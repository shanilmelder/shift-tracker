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3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B8DCC8"/>
                </a:solidFill>
                <a:latin typeface="Calibri"/>
              </a:rPr>
              <a:t>SHIFT TRACKER</a:t>
            </a:r>
          </a:p>
          <a:p>
            <a:pPr algn="l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Mobile Workforce Scheduling
with Conversational Reporting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6EAE0"/>
                </a:solidFill>
                <a:latin typeface="Calibri"/>
              </a:rPr>
              <a:t>React Native  ·  Fastify  ·  PostgreSQL  ·  On-device-capable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6692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8DCC8"/>
                </a:solidFill>
                <a:latin typeface="Calibri"/>
              </a:rPr>
              <a:t>Student Name  |  Student ID  |  Module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1C1F1C"/>
                </a:solidFill>
                <a:latin typeface="Calibri"/>
              </a:rPr>
              <a:t>Shift work runs the service economy.  </a:t>
            </a:r>
            <a:r>
              <a:rPr sz="1700">
                <a:solidFill>
                  <a:srgbClr val="5F635C"/>
                </a:solidFill>
                <a:latin typeface="Calibri"/>
              </a:rPr>
              <a:t>Retail, hospitality, healthcare — hours vary weekly, staff are deskless.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C1F1C"/>
                </a:solidFill>
                <a:latin typeface="Calibri"/>
              </a:rPr>
              <a:t>Small operators still use spreadsheets, paper rotas and group chats.  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C1F1C"/>
                </a:solidFill>
                <a:latin typeface="Calibri"/>
              </a:rPr>
              <a:t>A rota on a staffroom wall is invisible to anyone off site.  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C1F1C"/>
                </a:solidFill>
                <a:latin typeface="Calibri"/>
              </a:rPr>
              <a:t>Swaps agreed in a chat leave no auditable record.  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C1F1C"/>
                </a:solidFill>
                <a:latin typeface="Calibri"/>
              </a:rPr>
              <a:t>Paper attendance can't be reconciled against scheduled hours —  </a:t>
            </a:r>
            <a:r>
              <a:rPr sz="1700">
                <a:solidFill>
                  <a:srgbClr val="5F635C"/>
                </a:solidFill>
                <a:latin typeface="Calibri"/>
              </a:rPr>
              <a:t>pay disputes become one person's word against another's.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C1F1C"/>
                </a:solidFill>
                <a:latin typeface="Calibri"/>
              </a:rPr>
              <a:t>Commercial tools exist, but price per employee  </a:t>
            </a:r>
            <a:r>
              <a:rPr sz="1700">
                <a:solidFill>
                  <a:srgbClr val="5F635C"/>
                </a:solidFill>
                <a:latin typeface="Calibri"/>
              </a:rPr>
              <a:t>and lock the data away from the business that generated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What Shift Tracker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566160" cy="508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29968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For employees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See your shifts, and the whole team's rota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Clock in and out with location awareness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Request time off; swap a shift with a colleague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Works offline — actions queue and replay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3566160" cy="508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029968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For managers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Build and staff the schedule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Approve time off and swaps in one queue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Dashboard of what needs attention today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Create staff accounts; reset passwords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2918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828800"/>
            <a:ext cx="3291840" cy="508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2029968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The differentiator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Ask questions in plain English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"Who's on the morning shift tomorrow?"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"Who took the most time off this month?"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Answers come from live data, not a guess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35C"/>
                </a:solidFill>
                <a:latin typeface="Calibri"/>
              </a:rPr>
              <a:t>Two role-aware apps in one codebase. Every authorisation decision is made server-side — the mobile client holds no database credential at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HOW IT FITS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9260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2926080" cy="508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Mobile client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React Native + Expo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iOS and Android, one codebase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Offline cache + mutation queue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Holds NO database credential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965960"/>
            <a:ext cx="29260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794760" y="1965960"/>
            <a:ext cx="2926080" cy="50800"/>
          </a:xfrm>
          <a:prstGeom prst="rect">
            <a:avLst/>
          </a:prstGeom>
          <a:solidFill>
            <a:srgbClr val="175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23360" y="2167128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REST API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Fastify on Node 24 (serverless)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The only component that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touches the database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Every authz decision made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965960"/>
            <a:ext cx="29260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49440" y="1965960"/>
            <a:ext cx="2926080" cy="50800"/>
          </a:xfrm>
          <a:prstGeom prst="rect">
            <a:avLst/>
          </a:prstGeom>
          <a:solidFill>
            <a:srgbClr val="1C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2167128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Data + Auth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PostgreSQL via Supabase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Row-level security as backstop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Managed authentication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Trigger-enforced integrity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04120" y="1965960"/>
            <a:ext cx="16916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104120" y="1965960"/>
            <a:ext cx="1691640" cy="508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32720" y="2167128"/>
            <a:ext cx="1234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AI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Ollama tool-calling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9 typed tools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Model never sees the DB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Relocatable to the edge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611880" y="3108960"/>
            <a:ext cx="320040" cy="274320"/>
          </a:xfrm>
          <a:prstGeom prst="rightArrow">
            <a:avLst/>
          </a:prstGeom>
          <a:solidFill>
            <a:srgbClr val="E3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6766560" y="3108960"/>
            <a:ext cx="320040" cy="274320"/>
          </a:xfrm>
          <a:prstGeom prst="rightArrow">
            <a:avLst/>
          </a:prstGeom>
          <a:solidFill>
            <a:srgbClr val="E3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Arrow 19"/>
          <p:cNvSpPr/>
          <p:nvPr/>
        </p:nvSpPr>
        <p:spPr>
          <a:xfrm>
            <a:off x="9921240" y="3108960"/>
            <a:ext cx="320040" cy="274320"/>
          </a:xfrm>
          <a:prstGeom prst="rightArrow">
            <a:avLst/>
          </a:prstGeom>
          <a:solidFill>
            <a:srgbClr val="E3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98348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35C"/>
                </a:solidFill>
                <a:latin typeface="Calibri"/>
              </a:rPr>
              <a:t>Single trusted boundary: a compromised or modified client can request no more than the API grants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TOOLS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661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566160" cy="508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29968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Client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React Native 0.81 / Expo SDK 54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TypeScript · Expo Router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TanStack Query — offline cache + queue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Zustand · React Hook Form + Zod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expo-location, -notifications, -secure-store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5661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3566160" cy="50800"/>
          </a:xfrm>
          <a:prstGeom prst="rect">
            <a:avLst/>
          </a:prstGeom>
          <a:solidFill>
            <a:srgbClr val="175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029968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API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Fastify 4 · TypeScript · Node 24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Zod schema validation at the edge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Vitest — 100 automated tests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Deployed serverless on Vercel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2918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828800"/>
            <a:ext cx="3291840" cy="508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2029968"/>
            <a:ext cx="2834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Data &amp; AI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PostgreSQL 17 (Supabase)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Supabase Auth · Row-level security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Ollama — gpt-oss:120b, tool calling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Resend — transactional 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434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C1F1C"/>
                </a:solidFill>
                <a:latin typeface="Calibri"/>
              </a:rPr>
              <a:t>Why one API, not microservices?  </a:t>
            </a:r>
            <a:r>
              <a:rPr sz="1400">
                <a:solidFill>
                  <a:srgbClr val="5F635C"/>
                </a:solidFill>
                <a:latin typeface="Calibri"/>
              </a:rPr>
              <a:t>Independent scaling and team autonomy are the costs' justification — neither applies to a project this size.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C1F1C"/>
                </a:solidFill>
                <a:latin typeface="Calibri"/>
              </a:rPr>
              <a:t>Why tool calling, not text-to-SQL?  </a:t>
            </a:r>
            <a:r>
              <a:rPr sz="1400">
                <a:solidFill>
                  <a:srgbClr val="5F635C"/>
                </a:solidFill>
                <a:latin typeface="Calibri"/>
              </a:rPr>
              <a:t>The model picks from typed operations it cannot go outside; our code runs the query.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NON-NEGOTIABLES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Security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C1F1C"/>
                </a:solidFill>
                <a:latin typeface="Calibri"/>
              </a:rPr>
              <a:t>No self-registration exists anywhere.  </a:t>
            </a:r>
            <a:r>
              <a:rPr sz="1600">
                <a:solidFill>
                  <a:srgbClr val="5F635C"/>
                </a:solidFill>
                <a:latin typeface="Calibri"/>
              </a:rPr>
              <a:t>Accounts are manager-created — an entire attack surface simply absent.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C1F1C"/>
                </a:solidFill>
                <a:latin typeface="Calibri"/>
              </a:rPr>
              <a:t>The device holds no database credential.  </a:t>
            </a:r>
            <a:r>
              <a:rPr sz="1600">
                <a:solidFill>
                  <a:srgbClr val="5F635C"/>
                </a:solidFill>
                <a:latin typeface="Calibri"/>
              </a:rPr>
              <a:t>Decompiling the app yields nothing; the service-role key is server-side only.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C1F1C"/>
                </a:solidFill>
                <a:latin typeface="Calibri"/>
              </a:rPr>
              <a:t>Temporary passwords are enforced server-side.  </a:t>
            </a:r>
            <a:r>
              <a:rPr sz="1600">
                <a:solidFill>
                  <a:srgbClr val="5F635C"/>
                </a:solidFill>
                <a:latin typeface="Calibri"/>
              </a:rPr>
              <a:t>Middleware refuses every route until the user sets their own — a UI prompt alone could be bypassed by calling the API.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C1F1C"/>
                </a:solidFill>
                <a:latin typeface="Calibri"/>
              </a:rPr>
              <a:t>The AI can never widen its own scope.  </a:t>
            </a:r>
            <a:r>
              <a:rPr sz="1600">
                <a:solidFill>
                  <a:srgbClr val="5F635C"/>
                </a:solidFill>
                <a:latin typeface="Calibri"/>
              </a:rPr>
              <a:t>No tool accepts a location ID; each re-derives it from the authenticated caller. A test asserts this.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C1F1C"/>
                </a:solidFill>
                <a:latin typeface="Calibri"/>
              </a:rPr>
              <a:t>Location never blocks clocking in.  </a:t>
            </a:r>
            <a:r>
              <a:rPr sz="1600">
                <a:solidFill>
                  <a:srgbClr val="5F635C"/>
                </a:solidFill>
                <a:latin typeface="Calibri"/>
              </a:rPr>
              <a:t>A missing or out-of-range reading flags for review — it never denies someone their wages.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C1F1C"/>
                </a:solidFill>
                <a:latin typeface="Calibri"/>
              </a:rPr>
              <a:t>Session tokens live in Keychain / Keystore,  </a:t>
            </a:r>
            <a:r>
              <a:rPr sz="1600">
                <a:solidFill>
                  <a:srgbClr val="5F635C"/>
                </a:solidFill>
                <a:latin typeface="Calibri"/>
              </a:rPr>
              <a:t>not general app storage.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USING 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2000">
                <a:solidFill>
                  <a:srgbClr val="1C1F1C"/>
                </a:solidFill>
                <a:latin typeface="Calibri"/>
              </a:rPr>
              <a:t>•  First sign-in and setting a password</a:t>
            </a:r>
          </a:p>
          <a:p>
            <a:pPr>
              <a:spcAft>
                <a:spcPts val="2000"/>
              </a:spcAft>
            </a:pPr>
            <a:r>
              <a:rPr sz="2000">
                <a:solidFill>
                  <a:srgbClr val="1C1F1C"/>
                </a:solidFill>
                <a:latin typeface="Calibri"/>
              </a:rPr>
              <a:t>•  Employee — my schedule, the team rota, clocking in, requests</a:t>
            </a:r>
          </a:p>
          <a:p>
            <a:pPr>
              <a:spcAft>
                <a:spcPts val="2000"/>
              </a:spcAft>
            </a:pPr>
            <a:r>
              <a:rPr sz="2000">
                <a:solidFill>
                  <a:srgbClr val="1C1F1C"/>
                </a:solidFill>
                <a:latin typeface="Calibri"/>
              </a:rPr>
              <a:t>•  Manager — dashboard, building the schedule, approvals, AI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STEP 1 ·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Signing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7132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No self-registration exists.  </a:t>
            </a:r>
            <a:r>
              <a:rPr sz="1500">
                <a:solidFill>
                  <a:srgbClr val="5F635C"/>
                </a:solidFill>
                <a:latin typeface="Calibri"/>
              </a:rPr>
              <a:t>Managers create accounts; there is no sign-up route anywhere in the API.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A generated temporary password arrives by email.  </a:t>
            </a:r>
            <a:r>
              <a:rPr sz="1500">
                <a:solidFill>
                  <a:srgbClr val="5F635C"/>
                </a:solidFill>
                <a:latin typeface="Calibri"/>
              </a:rPr>
              <a:t>Confusable characters are stripped — no 0/O, 1/l/I, 5/S, 8/B — because it gets dictated across a counter.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Forgotten it?  </a:t>
            </a:r>
            <a:r>
              <a:rPr sz="1500">
                <a:solidFill>
                  <a:srgbClr val="5F635C"/>
                </a:solidFill>
                <a:latin typeface="Calibri"/>
              </a:rPr>
              <a:t>Self-service recovery emails a fresh one. The response is identical whether or not the address is registered, so the form cannot be used to discover who works here.</a:t>
            </a:r>
          </a:p>
        </p:txBody>
      </p:sp>
      <p:pic>
        <p:nvPicPr>
          <p:cNvPr id="7" name="Picture 6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234440"/>
            <a:ext cx="264588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STEP 2 ·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Forgotten password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7132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Self-service, no manager needed.  </a:t>
            </a:r>
            <a:r>
              <a:rPr sz="1500">
                <a:solidFill>
                  <a:srgbClr val="5F635C"/>
                </a:solidFill>
                <a:latin typeface="Calibri"/>
              </a:rPr>
              <a:t>Enter an email and a fresh temporary password is sent.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The response is identical either way.  </a:t>
            </a:r>
            <a:r>
              <a:rPr sz="1500">
                <a:solidFill>
                  <a:srgbClr val="5F635C"/>
                </a:solidFill>
                <a:latin typeface="Calibri"/>
              </a:rPr>
              <a:t>Registered or not, same message, same status — otherwise the form becomes a way to discover who works here.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The email is sent BEFORE the password changes.  </a:t>
            </a:r>
            <a:r>
              <a:rPr sz="1500">
                <a:solidFill>
                  <a:srgbClr val="5F635C"/>
                </a:solidFill>
                <a:latin typeface="Calibri"/>
              </a:rPr>
              <a:t>The reverse order would lock someone out of a working account whenever a send failed, with no way to learn the new password.</a:t>
            </a:r>
          </a:p>
        </p:txBody>
      </p:sp>
      <p:pic>
        <p:nvPicPr>
          <p:cNvPr id="7" name="Picture 6" descr="01b-forgot-pass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234440"/>
            <a:ext cx="266414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STEP 3 ·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Choose your own password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7132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Not dismissible.  </a:t>
            </a:r>
            <a:r>
              <a:rPr sz="1500">
                <a:solidFill>
                  <a:srgbClr val="5F635C"/>
                </a:solidFill>
                <a:latin typeface="Calibri"/>
              </a:rPr>
              <a:t>No skip, no back, no tab bar.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Enforced by the API, not the screen.  </a:t>
            </a:r>
            <a:r>
              <a:rPr sz="1500">
                <a:solidFill>
                  <a:srgbClr val="5F635C"/>
                </a:solidFill>
                <a:latin typeface="Calibri"/>
              </a:rPr>
              <a:t>Middleware refuses every other route until it is done — a UI-only prompt could be bypassed by calling the API directly.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Confirmation required.  </a:t>
            </a:r>
            <a:r>
              <a:rPr sz="1500">
                <a:solidFill>
                  <a:srgbClr val="5F635C"/>
                </a:solidFill>
                <a:latin typeface="Calibri"/>
              </a:rPr>
              <a:t>The temporary password dies the instant this succeeds, so a typo would lock you out.</a:t>
            </a:r>
          </a:p>
        </p:txBody>
      </p:sp>
      <p:pic>
        <p:nvPicPr>
          <p:cNvPr id="7" name="Picture 6" descr="02-set-pass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234440"/>
            <a:ext cx="23552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STEP 4 · EMPLOYEE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My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7132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Your own shifts, day / week / month.  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Grouped by date with status badges.  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Renders offline.  </a:t>
            </a:r>
            <a:r>
              <a:rPr sz="1500">
                <a:solidFill>
                  <a:srgbClr val="5F635C"/>
                </a:solidFill>
                <a:latin typeface="Calibri"/>
              </a:rPr>
              <a:t>The last synced schedule is cached, so a stockroom with no signal still shows your shifts.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See who’s working leads to the shared rota.  </a:t>
            </a:r>
          </a:p>
        </p:txBody>
      </p:sp>
      <p:pic>
        <p:nvPicPr>
          <p:cNvPr id="7" name="Picture 6" descr="03-employee-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234440"/>
            <a:ext cx="23552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STEP 5 · EMPLOYEE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Shift detail and swaps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7132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Times, status, and who else is staffed.  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Request a swap with an eligible colleague.  </a:t>
            </a:r>
            <a:r>
              <a:rPr sz="1500">
                <a:solidFill>
                  <a:srgbClr val="5F635C"/>
                </a:solidFill>
                <a:latin typeface="Calibri"/>
              </a:rPr>
              <a:t>The list excludes anyone already booked that window — and excludes you, which was a real bug: with one employee on site, the only person offered was themselves.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Your colleague accepts, then a manager approves.  </a:t>
            </a:r>
            <a:r>
              <a:rPr sz="1500">
                <a:solidFill>
                  <a:srgbClr val="5F635C"/>
                </a:solidFill>
                <a:latin typeface="Calibri"/>
              </a:rPr>
              <a:t>Two gates, so no shift changes hands unnoticed.</a:t>
            </a:r>
          </a:p>
        </p:txBody>
      </p:sp>
      <p:pic>
        <p:nvPicPr>
          <p:cNvPr id="7" name="Picture 6" descr="03b-shif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234440"/>
            <a:ext cx="23552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STEP 6 · EVERYONE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Who’s working — the shared rota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7132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Every user sees the whole location.  </a:t>
            </a:r>
            <a:r>
              <a:rPr sz="1500">
                <a:solidFill>
                  <a:srgbClr val="5F635C"/>
                </a:solidFill>
                <a:latin typeface="Calibri"/>
              </a:rPr>
              <a:t>Shift name, start and end time, day, date, and who is on it.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Day / week / month, with paging.  </a:t>
            </a:r>
            <a:r>
              <a:rPr sz="1500">
                <a:solidFill>
                  <a:srgbClr val="5F635C"/>
                </a:solidFill>
                <a:latin typeface="Calibri"/>
              </a:rPr>
              <a:t>Tap the date label to jump back to today.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The shift leader is marked;  </a:t>
            </a:r>
            <a:r>
              <a:rPr sz="1500">
                <a:solidFill>
                  <a:srgbClr val="5F635C"/>
                </a:solidFill>
                <a:latin typeface="Calibri"/>
              </a:rPr>
              <a:t>an unstaffed shift is called out rather than blending in.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Grouped in the site’s timezone, not the phone’s,  </a:t>
            </a:r>
            <a:r>
              <a:rPr sz="1500">
                <a:solidFill>
                  <a:srgbClr val="5F635C"/>
                </a:solidFill>
                <a:latin typeface="Calibri"/>
              </a:rPr>
              <a:t>so the same shift lands on the same day for everyone reading it.</a:t>
            </a:r>
          </a:p>
        </p:txBody>
      </p:sp>
      <p:pic>
        <p:nvPicPr>
          <p:cNvPr id="7" name="Picture 6" descr="04-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234440"/>
            <a:ext cx="23552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STEP 7 · EMPLOYEE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Clocking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7132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One button per shift.  </a:t>
            </a:r>
            <a:r>
              <a:rPr sz="1500">
                <a:solidFill>
                  <a:srgbClr val="5F635C"/>
                </a:solidFill>
                <a:latin typeface="Calibri"/>
              </a:rPr>
              <a:t>A split shift keeps its own independent clock state.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Location is checked, never enforced.  </a:t>
            </a:r>
            <a:r>
              <a:rPr sz="1500">
                <a:solidFill>
                  <a:srgbClr val="5F635C"/>
                </a:solidFill>
                <a:latin typeface="Calibri"/>
              </a:rPr>
              <a:t>Out of range — or no permission at all — still clocks you in, flagged for a manager. Refusing would be the harshest possible response to an unreliable signal.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Note the location indicator in the status bar.  </a:t>
            </a:r>
            <a:r>
              <a:rPr sz="1500">
                <a:solidFill>
                  <a:srgbClr val="5F635C"/>
                </a:solidFill>
                <a:latin typeface="Calibri"/>
              </a:rPr>
              <a:t>Requesting that permission at runtime was the fix for clock-in failing entirely.</a:t>
            </a:r>
          </a:p>
        </p:txBody>
      </p:sp>
      <p:pic>
        <p:nvPicPr>
          <p:cNvPr id="7" name="Picture 6" descr="05-clock-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234440"/>
            <a:ext cx="23552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STEP 8 · EMPLOYEE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Clocked in: timer and breaks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7132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Live elapsed time.  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Break start and end recorded separately  </a:t>
            </a:r>
            <a:r>
              <a:rPr sz="1500">
                <a:solidFill>
                  <a:srgbClr val="5F635C"/>
                </a:solidFill>
                <a:latin typeface="Calibri"/>
              </a:rPr>
              <a:t>so paid and unpaid time can be separated later.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Offline-safe.  </a:t>
            </a:r>
            <a:r>
              <a:rPr sz="1500">
                <a:solidFill>
                  <a:srgbClr val="5F635C"/>
                </a:solidFill>
                <a:latin typeface="Calibri"/>
              </a:rPr>
              <a:t>An idempotency key means a replayed request returns the original entry instead of double-clocking you.</a:t>
            </a:r>
          </a:p>
        </p:txBody>
      </p:sp>
      <p:pic>
        <p:nvPicPr>
          <p:cNvPr id="7" name="Picture 6" descr="05b-clocked-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234440"/>
            <a:ext cx="23552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STEP 9 · EMPLOYEE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Requesting time 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7132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Dates and a reason; the reason is required.  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Track the outcome — approved, pending, denied.  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An approved request blocks staffing  </a:t>
            </a:r>
            <a:r>
              <a:rPr sz="1500">
                <a:solidFill>
                  <a:srgbClr val="5F635C"/>
                </a:solidFill>
                <a:latin typeface="Calibri"/>
              </a:rPr>
              <a:t>over the same dates, so a manager cannot accidentally roster someone on leave.</a:t>
            </a:r>
          </a:p>
        </p:txBody>
      </p:sp>
      <p:pic>
        <p:nvPicPr>
          <p:cNvPr id="7" name="Picture 6" descr="06-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234440"/>
            <a:ext cx="23552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STEP 10 ·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7132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Today at a glance.  </a:t>
            </a:r>
            <a:r>
              <a:rPr sz="1500">
                <a:solidFill>
                  <a:srgbClr val="5F635C"/>
                </a:solidFill>
                <a:latin typeface="Calibri"/>
              </a:rPr>
              <a:t>Shifts running, unfilled, open board, pending swaps and time off.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Coverage across the week.  </a:t>
            </a:r>
            <a:r>
              <a:rPr sz="1500">
                <a:solidFill>
                  <a:srgbClr val="5F635C"/>
                </a:solidFill>
                <a:latin typeface="Calibri"/>
              </a:rPr>
              <a:t>Staffed versus total, per day.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Needs you is the actionable list.  </a:t>
            </a:r>
            <a:r>
              <a:rPr sz="1500">
                <a:solidFill>
                  <a:srgbClr val="5F635C"/>
                </a:solidFill>
                <a:latin typeface="Calibri"/>
              </a:rPr>
              <a:t>Time off awaiting a decision, flagged clock-ins, unstaffed shifts.</a:t>
            </a:r>
          </a:p>
        </p:txBody>
      </p:sp>
      <p:pic>
        <p:nvPicPr>
          <p:cNvPr id="7" name="Picture 6" descr="07-manage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234440"/>
            <a:ext cx="23552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STEP 11 ·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Building shifts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7132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Define the shift once — name and time of day.  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Reusable.  </a:t>
            </a:r>
            <a:r>
              <a:rPr sz="1500">
                <a:solidFill>
                  <a:srgbClr val="5F635C"/>
                </a:solidFill>
                <a:latin typeface="Calibri"/>
              </a:rPr>
              <a:t>Which dates it runs on is a separate step, so a recurring pattern is not retyped.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Created shifts are listed underneath,  </a:t>
            </a:r>
            <a:r>
              <a:rPr sz="1500">
                <a:solidFill>
                  <a:srgbClr val="5F635C"/>
                </a:solidFill>
                <a:latin typeface="Calibri"/>
              </a:rPr>
              <a:t>ready to be assigned to dates.</a:t>
            </a:r>
          </a:p>
        </p:txBody>
      </p:sp>
      <p:pic>
        <p:nvPicPr>
          <p:cNvPr id="7" name="Picture 6" descr="08-build-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234440"/>
            <a:ext cx="23552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STEP 12 ·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Assigning to 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7132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Pick a shift, pick a date.  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Existing shifts listed with status  </a:t>
            </a:r>
            <a:r>
              <a:rPr sz="1500">
                <a:solidFill>
                  <a:srgbClr val="5F635C"/>
                </a:solidFill>
                <a:latin typeface="Calibri"/>
              </a:rPr>
              <a:t>so duplicates are obvious before you create one.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Swipe an existing shift to delete —  </a:t>
            </a:r>
            <a:r>
              <a:rPr sz="1500">
                <a:solidFill>
                  <a:srgbClr val="5F635C"/>
                </a:solidFill>
                <a:latin typeface="Calibri"/>
              </a:rPr>
              <a:t>refused if anyone has already clocked in against it, since that is payroll history.</a:t>
            </a:r>
          </a:p>
        </p:txBody>
      </p:sp>
      <p:pic>
        <p:nvPicPr>
          <p:cNvPr id="7" name="Picture 6" descr="08b-build-as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234440"/>
            <a:ext cx="23552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STEP 13 ·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Staffing a shift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7132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Add or remove workers; nominate one leader.  </a:t>
            </a:r>
            <a:r>
              <a:rPr sz="1500">
                <a:solidFill>
                  <a:srgbClr val="5F635C"/>
                </a:solidFill>
                <a:latin typeface="Calibri"/>
              </a:rPr>
              <a:t>At most one, enforced by a database index rather than trusted to the UI.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Conflicts checked before saving.  </a:t>
            </a:r>
            <a:r>
              <a:rPr sz="1500">
                <a:solidFill>
                  <a:srgbClr val="5F635C"/>
                </a:solidFill>
                <a:latin typeface="Calibri"/>
              </a:rPr>
              <a:t>Double-booking, insufficient rest between shifts, and approved time off.</a:t>
            </a:r>
          </a:p>
        </p:txBody>
      </p:sp>
      <p:pic>
        <p:nvPicPr>
          <p:cNvPr id="7" name="Picture 6" descr="08c-staff-this-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234440"/>
            <a:ext cx="23552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STEP 14 ·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Approvals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7132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One queue per type — time off and swaps.  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Approve or deny in a tap;  </a:t>
            </a:r>
            <a:r>
              <a:rPr sz="1500">
                <a:solidFill>
                  <a:srgbClr val="5F635C"/>
                </a:solidFill>
                <a:latin typeface="Calibri"/>
              </a:rPr>
              <a:t>the employee is notified by push.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Every affected screen refreshes together.  </a:t>
            </a:r>
            <a:r>
              <a:rPr sz="1500">
                <a:solidFill>
                  <a:srgbClr val="5F635C"/>
                </a:solidFill>
                <a:latin typeface="Calibri"/>
              </a:rPr>
              <a:t>Approving updates the queue, the employee’s list and the dashboard at once — previously each screen refreshed only itself.</a:t>
            </a:r>
          </a:p>
        </p:txBody>
      </p:sp>
      <p:pic>
        <p:nvPicPr>
          <p:cNvPr id="7" name="Picture 6" descr="09-manager-appro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234440"/>
            <a:ext cx="23552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STEP 15 ·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7132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Everyone at the location, with role and status.  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Invited marks an account  </a:t>
            </a:r>
            <a:r>
              <a:rPr sz="1500">
                <a:solidFill>
                  <a:srgbClr val="5F635C"/>
                </a:solidFill>
                <a:latin typeface="Calibri"/>
              </a:rPr>
              <a:t>that has not yet replaced its temporary password.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Tap through to edit pay or role, or  </a:t>
            </a:r>
            <a:r>
              <a:rPr sz="1500">
                <a:solidFill>
                  <a:srgbClr val="5F635C"/>
                </a:solidFill>
                <a:latin typeface="Calibri"/>
              </a:rPr>
              <a:t>issue a fresh temporary password.</a:t>
            </a:r>
          </a:p>
        </p:txBody>
      </p:sp>
      <p:pic>
        <p:nvPicPr>
          <p:cNvPr id="7" name="Picture 6" descr="12-team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234440"/>
            <a:ext cx="23552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STEP 16 ·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AI reports — ask, don’t navigate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7132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Replaces four fixed report screens.  </a:t>
            </a:r>
            <a:r>
              <a:rPr sz="1500">
                <a:solidFill>
                  <a:srgbClr val="5F635C"/>
                </a:solidFill>
                <a:latin typeface="Calibri"/>
              </a:rPr>
              <a:t>Those remain, one tap away under Standard.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Suggested questions make the scope visible.  </a:t>
            </a:r>
            <a:r>
              <a:rPr sz="1500">
                <a:solidFill>
                  <a:srgbClr val="5F635C"/>
                </a:solidFill>
                <a:latin typeface="Calibri"/>
              </a:rPr>
              <a:t>The honest problem with a bounded assistant is that a blank box tells you nothing about what it covers.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Answers come from typed lookups, not generated SQL.  </a:t>
            </a:r>
            <a:r>
              <a:rPr sz="1500">
                <a:solidFill>
                  <a:srgbClr val="5F635C"/>
                </a:solidFill>
                <a:latin typeface="Calibri"/>
              </a:rPr>
              <a:t>The model picks a tool; our code runs the query and re-derives the location from the signed-in user.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It declines what it cannot answer  </a:t>
            </a:r>
            <a:r>
              <a:rPr sz="1500">
                <a:solidFill>
                  <a:srgbClr val="5F635C"/>
                </a:solidFill>
                <a:latin typeface="Calibri"/>
              </a:rPr>
              <a:t>instead of inventing a figure.</a:t>
            </a:r>
          </a:p>
        </p:txBody>
      </p:sp>
      <p:pic>
        <p:nvPicPr>
          <p:cNvPr id="7" name="Picture 6" descr="10-ai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234440"/>
            <a:ext cx="23552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STEP 17 ·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Adding a staff 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7132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Name, email, role, pay rate.  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A temporary password is generated, emailed,  </a:t>
            </a:r>
            <a:r>
              <a:rPr sz="1500">
                <a:solidFill>
                  <a:srgbClr val="5F635C"/>
                </a:solidFill>
                <a:latin typeface="Calibri"/>
              </a:rPr>
              <a:t>and shown once on screen.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The on-screen copy is the point.  </a:t>
            </a:r>
            <a:r>
              <a:rPr sz="1500">
                <a:solidFill>
                  <a:srgbClr val="5F635C"/>
                </a:solidFill>
                <a:latin typeface="Calibri"/>
              </a:rPr>
              <a:t>Onboarding still works when email does not — an unverified sending domain took it down completely at one stage.</a:t>
            </a:r>
          </a:p>
        </p:txBody>
      </p:sp>
      <p:pic>
        <p:nvPicPr>
          <p:cNvPr id="7" name="Picture 6" descr="11-add-sta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234440"/>
            <a:ext cx="23552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STEP 18 ·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The password, shown once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7132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Readable exactly here, and never again.  </a:t>
            </a:r>
            <a:r>
              <a:rPr sz="1500">
                <a:solidFill>
                  <a:srgbClr val="5F635C"/>
                </a:solidFill>
                <a:latin typeface="Calibri"/>
              </a:rPr>
              <a:t>The server stores only a hash — a lost one is reissued, not recovered.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Copyable in a tap.  </a:t>
            </a:r>
            <a:r>
              <a:rPr sz="1500">
                <a:solidFill>
                  <a:srgbClr val="5F635C"/>
                </a:solidFill>
                <a:latin typeface="Calibri"/>
              </a:rPr>
              <a:t>It gets read out or pasted into a message.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Shown even when the email succeeded.  </a:t>
            </a:r>
            <a:r>
              <a:rPr sz="1500">
                <a:solidFill>
                  <a:srgbClr val="5F635C"/>
                </a:solidFill>
                <a:latin typeface="Calibri"/>
              </a:rPr>
              <a:t>Email is the unreliable half of onboarding; the manager holding the password is what keeps it working.</a:t>
            </a:r>
          </a:p>
        </p:txBody>
      </p:sp>
      <p:pic>
        <p:nvPicPr>
          <p:cNvPr id="7" name="Picture 6" descr="11b-account-cre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234440"/>
            <a:ext cx="23552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DOES IT HOLD UP?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566160" cy="508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29968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Correctness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100 automated tests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Unit + integration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Business logic as pure functions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TypeScript + lint gates on both tiers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3566160" cy="50800"/>
          </a:xfrm>
          <a:prstGeom prst="rect">
            <a:avLst/>
          </a:prstGeom>
          <a:solidFill>
            <a:srgbClr val="175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029968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Performance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API reads well under 1s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(Nielsen's flow threshold)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AI answers ~1.5–2.5s end to end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Indexed on location + time range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828800"/>
            <a:ext cx="3291840" cy="508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2029968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Honest limits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No formal usability study (no SUS)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Single location per user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Rate limiting resets on cold start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F635C"/>
                </a:solidFill>
                <a:latin typeface="Calibri"/>
              </a:rPr>
              <a:t>Some flows untested on 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35C"/>
                </a:solidFill>
                <a:latin typeface="Calibri"/>
              </a:rPr>
              <a:t>Failure and emptiness are now visually distinct — a queue that fails to load once looked identical to one that was genuinely empty, and that concealed a real defect.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4A"/>
                </a:solidFill>
                <a:latin typeface="Calibri"/>
              </a:rPr>
              <a:t>WHERE IT GOES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F1C"/>
                </a:solidFill>
                <a:latin typeface="Calibri"/>
              </a:rPr>
              <a:t>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Edge computing.  </a:t>
            </a:r>
            <a:r>
              <a:rPr sz="1500">
                <a:solidFill>
                  <a:srgbClr val="5F635C"/>
                </a:solidFill>
                <a:latin typeface="Calibri"/>
              </a:rPr>
              <a:t>Today a cloud model means employee names leave the business. Running a smaller model on-premises keeps data local — the model endpoint is one config value, so no code changes.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Retrieval-augmented generation.  </a:t>
            </a:r>
            <a:r>
              <a:rPr sz="1500">
                <a:solidFill>
                  <a:srgbClr val="5F635C"/>
                </a:solidFill>
                <a:latin typeface="Calibri"/>
              </a:rPr>
              <a:t>Ground answers in the company's own staffing policy, not just its schedule.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Demand forecasting.  </a:t>
            </a:r>
            <a:r>
              <a:rPr sz="1500">
                <a:solidFill>
                  <a:srgbClr val="5F635C"/>
                </a:solidFill>
                <a:latin typeface="Calibri"/>
              </a:rPr>
              <a:t>Move from reporting what happened to proposing a schedule before a manager builds one.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Extended reality.  </a:t>
            </a:r>
            <a:r>
              <a:rPr sz="1500">
                <a:solidFill>
                  <a:srgbClr val="5F635C"/>
                </a:solidFill>
                <a:latin typeface="Calibri"/>
              </a:rPr>
              <a:t>An AR overlay of who's covering which area; a spatial handover at shift change. The shift-area model already holds the context.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1C1F1C"/>
                </a:solidFill>
                <a:latin typeface="Calibri"/>
              </a:rPr>
              <a:t>Nearer term.  </a:t>
            </a:r>
            <a:r>
              <a:rPr sz="1500">
                <a:solidFill>
                  <a:srgbClr val="5F635C"/>
                </a:solidFill>
                <a:latin typeface="Calibri"/>
              </a:rPr>
              <a:t>Multi-location support, platform-level rate limiting, biometric confirmation at clock-in.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D6EAE0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2069</Words>
  <Application>Microsoft Office PowerPoint</Application>
  <PresentationFormat>Widescreen</PresentationFormat>
  <Paragraphs>205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Shanil Melder</cp:lastModifiedBy>
  <cp:revision>2</cp:revision>
  <dcterms:created xsi:type="dcterms:W3CDTF">2013-01-27T09:14:16Z</dcterms:created>
  <dcterms:modified xsi:type="dcterms:W3CDTF">2026-08-29T09:52:59Z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eede9ce-c029-4456-928f-1a990819f9e6_Enabled">
    <vt:lpwstr>true</vt:lpwstr>
  </property>
  <property fmtid="{D5CDD505-2E9C-101B-9397-08002B2CF9AE}" pid="3" name="MSIP_Label_1eede9ce-c029-4456-928f-1a990819f9e6_SetDate">
    <vt:lpwstr>2026-08-29T09:49:02Z</vt:lpwstr>
  </property>
  <property fmtid="{D5CDD505-2E9C-101B-9397-08002B2CF9AE}" pid="4" name="MSIP_Label_1eede9ce-c029-4456-928f-1a990819f9e6_Method">
    <vt:lpwstr>Privileged</vt:lpwstr>
  </property>
  <property fmtid="{D5CDD505-2E9C-101B-9397-08002B2CF9AE}" pid="5" name="MSIP_Label_1eede9ce-c029-4456-928f-1a990819f9e6_Name">
    <vt:lpwstr>Confidential – Highly Sensitive</vt:lpwstr>
  </property>
  <property fmtid="{D5CDD505-2E9C-101B-9397-08002B2CF9AE}" pid="6" name="MSIP_Label_1eede9ce-c029-4456-928f-1a990819f9e6_SiteId">
    <vt:lpwstr>77ab64d0-48c5-4723-9a64-eb43ae84e773</vt:lpwstr>
  </property>
  <property fmtid="{D5CDD505-2E9C-101B-9397-08002B2CF9AE}" pid="7" name="MSIP_Label_1eede9ce-c029-4456-928f-1a990819f9e6_ActionId">
    <vt:lpwstr>9a84eb28-389d-453f-be37-6cc9f1136abb</vt:lpwstr>
  </property>
  <property fmtid="{D5CDD505-2E9C-101B-9397-08002B2CF9AE}" pid="8" name="MSIP_Label_1eede9ce-c029-4456-928f-1a990819f9e6_ContentBits">
    <vt:lpwstr>0</vt:lpwstr>
  </property>
  <property fmtid="{D5CDD505-2E9C-101B-9397-08002B2CF9AE}" pid="9" name="MSIP_Label_1eede9ce-c029-4456-928f-1a990819f9e6_Tag">
    <vt:lpwstr>10, 0, 1, 1</vt:lpwstr>
  </property>
</Properties>
</file>